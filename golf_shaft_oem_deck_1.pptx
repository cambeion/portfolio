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bit.ly/golf-shaft-patents" TargetMode="External"/><Relationship Id="rId2" Type="http://schemas.openxmlformats.org/officeDocument/2006/relationships/hyperlink" Target="https://bit.ly/golf-shaft-fmea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0" y="7315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61C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OEM PARTNERSHIP PROPOSAL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Foldable Golf Shaft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Mechanism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play-grade, flush-profile collet compression joint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for OEM shaft integration — travel-ready without compromise.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4389120"/>
            <a:ext cx="8321040" cy="10973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48056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Technical Review  ·  February 2026  ·  Mechanical Engineering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0" y="457200"/>
            <a:ext cx="3200400" cy="3200400"/>
          </a:xfrm>
          <a:prstGeom prst="oval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1097280"/>
            <a:ext cx="2011680" cy="2011680"/>
          </a:xfrm>
          <a:prstGeom prst="oval">
            <a:avLst/>
          </a:prstGeom>
          <a:solidFill>
            <a:srgbClr val="4ADE80">
              <a:alpha val="12000"/>
            </a:srgbClr>
          </a:solidFill>
          <a:ln w="6350">
            <a:solidFill>
              <a:srgbClr val="4ADE8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Travel Problem No One Has Solved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 equipment travel is expensive, inconvenient, and antiquated — the market is waiting for a premium solution.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8321040" cy="10973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91640"/>
            <a:ext cx="2606040" cy="2560320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691640"/>
            <a:ext cx="2606040" cy="457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1801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Cost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" y="2075688"/>
            <a:ext cx="237744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golf bags cost $50–$150 each way with airlines. Ship Sticks and similar services charge $80–$200 per shipment. A week-long golf trip routinely adds $300–$500 in logistics cost.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1691640"/>
            <a:ext cx="2606040" cy="2560320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1691640"/>
            <a:ext cx="2606040" cy="457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4136" y="1801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Bulk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74136" y="2075688"/>
            <a:ext cx="237744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golf bag is 50"+ tall — it cannot fit in any checked luggage, carry-on, or standard vehicle trunk without a dedicated travel bag. Hotels charge storage fees. Taxis refuse them.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44184" y="1691640"/>
            <a:ext cx="2606040" cy="2560320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44184" y="1691640"/>
            <a:ext cx="2606040" cy="457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1801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Risk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0488" y="2075688"/>
            <a:ext cx="237744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baggage handling breaks or bends shafts regularly. Replacement cost for a premium shaft set: $800–$3,000+. Travel cases add 15–25 lbs of dead weight to every trip.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4434840"/>
            <a:ext cx="1920240" cy="594360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4434840"/>
            <a:ext cx="54864" cy="5943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5079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$26B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8640" y="49377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51480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US golf travel market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23160" y="4434840"/>
            <a:ext cx="1920240" cy="594360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23160" y="4434840"/>
            <a:ext cx="54864" cy="5943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45079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560320" y="49377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60320" y="51480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trips per avid golfer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34840" y="4434840"/>
            <a:ext cx="1920240" cy="594360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34840" y="4434840"/>
            <a:ext cx="54864" cy="5943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45079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$150–500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572000" y="49377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avg.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0" y="51480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shipping cost per trip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46520" y="4434840"/>
            <a:ext cx="2286000" cy="594360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46520" y="4434840"/>
            <a:ext cx="54864" cy="5943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45079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583680" y="49377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avoid logistics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83680" y="51480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Golfers who rent on trips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Two-Piece Shaft That Looks Like One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IP is the connection mechanism — OEM shaft manufacturers install it. We own the joint.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8321040" cy="10973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74520"/>
            <a:ext cx="2926080" cy="502920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HALF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2926080" cy="164592"/>
          </a:xfrm>
          <a:prstGeom prst="rect">
            <a:avLst/>
          </a:prstGeom>
          <a:solidFill>
            <a:srgbClr val="7B8FA6"/>
          </a:solidFill>
          <a:ln w="12700">
            <a:solidFill>
              <a:srgbClr val="7B8F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33472"/>
            <a:ext cx="2926080" cy="164592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34640"/>
            <a:ext cx="2926080" cy="164592"/>
          </a:xfrm>
          <a:prstGeom prst="rect">
            <a:avLst/>
          </a:prstGeom>
          <a:solidFill>
            <a:srgbClr val="7B8FA6"/>
          </a:solidFill>
          <a:ln w="12700">
            <a:solidFill>
              <a:srgbClr val="7B8F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2331720"/>
            <a:ext cx="2286000" cy="713232"/>
          </a:xfrm>
          <a:prstGeom prst="rect">
            <a:avLst/>
          </a:prstGeom>
          <a:solidFill>
            <a:srgbClr val="1A3D28"/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3317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COLLET JOINT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2679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YOUR IP →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1874520"/>
            <a:ext cx="2926080" cy="502920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874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HALF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2423160"/>
            <a:ext cx="2926080" cy="164592"/>
          </a:xfrm>
          <a:prstGeom prst="rect">
            <a:avLst/>
          </a:prstGeom>
          <a:solidFill>
            <a:srgbClr val="7B8FA6"/>
          </a:solidFill>
          <a:ln w="12700">
            <a:solidFill>
              <a:srgbClr val="7B8F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2633472"/>
            <a:ext cx="2926080" cy="164592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2834640"/>
            <a:ext cx="2926080" cy="164592"/>
          </a:xfrm>
          <a:prstGeom prst="rect">
            <a:avLst/>
          </a:prstGeom>
          <a:solidFill>
            <a:srgbClr val="7B8FA6"/>
          </a:solidFill>
          <a:ln w="12700">
            <a:solidFill>
              <a:srgbClr val="7B8F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by OEM partner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(True Temper, Fujikura, Nippon, etc.)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29000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collet, mandrel,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sleeve, detent — proprietary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6072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by OEM partner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flex profile, same layup)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749040"/>
            <a:ext cx="8321040" cy="10973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840480"/>
            <a:ext cx="2606040" cy="731520"/>
          </a:xfrm>
          <a:prstGeom prst="rect">
            <a:avLst/>
          </a:prstGeom>
          <a:solidFill>
            <a:srgbClr val="1E2736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840480"/>
            <a:ext cx="45720" cy="7315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3858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 Profile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9496" y="41330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mechanism lives inside the shaft OD — zero visible collar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27832" y="3840480"/>
            <a:ext cx="2606040" cy="731520"/>
          </a:xfrm>
          <a:prstGeom prst="rect">
            <a:avLst/>
          </a:prstGeom>
          <a:solidFill>
            <a:srgbClr val="1E2736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27832" y="3840480"/>
            <a:ext cx="45720" cy="7315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3858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Compatible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55848" y="41330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Sleeve installed at factory — no shaft redesign required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44184" y="3840480"/>
            <a:ext cx="2606040" cy="731520"/>
          </a:xfrm>
          <a:prstGeom prst="rect">
            <a:avLst/>
          </a:prstGeom>
          <a:solidFill>
            <a:srgbClr val="1E2736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44184" y="3840480"/>
            <a:ext cx="45720" cy="7315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3858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Grade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41330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Collet compression delivers &gt;150 Nm bending capacity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LANDSCAPE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Art — 13 Patents Reviewed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major mechanisms are expired. The connection mechanism design space is open. Full patent table: bit.ly/golf-shaft-patents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8321040" cy="10973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737360"/>
            <a:ext cx="8321040" cy="658368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737360"/>
            <a:ext cx="54864" cy="658368"/>
          </a:xfrm>
          <a:prstGeom prst="rect">
            <a:avLst/>
          </a:prstGeom>
          <a:solidFill>
            <a:srgbClr val="40C080"/>
          </a:solidFill>
          <a:ln w="12700">
            <a:solidFill>
              <a:srgbClr val="40C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922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Telescopic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06654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Hesser (1998) most cited — OEM compatible approach, expired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566928" cy="475488"/>
          </a:xfrm>
          <a:prstGeom prst="rect">
            <a:avLst/>
          </a:prstGeom>
          <a:solidFill>
            <a:srgbClr val="40C080">
              <a:alpha val="20000"/>
            </a:srgbClr>
          </a:solidFill>
          <a:ln w="10160">
            <a:solidFill>
              <a:srgbClr val="40C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182880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11480" y="2487168"/>
            <a:ext cx="8321040" cy="658368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487168"/>
            <a:ext cx="54864" cy="65836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42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281635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aids only — insufficient for play-grade ball-striking loads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2578608"/>
            <a:ext cx="566928" cy="475488"/>
          </a:xfrm>
          <a:prstGeom prst="rect">
            <a:avLst/>
          </a:prstGeom>
          <a:solidFill>
            <a:srgbClr val="FF8C00">
              <a:alpha val="20000"/>
            </a:srgbClr>
          </a:solidFill>
          <a:ln w="10160">
            <a:solidFill>
              <a:srgbClr val="FF8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257860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11480" y="3236976"/>
            <a:ext cx="8321040" cy="658368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236976"/>
            <a:ext cx="54864" cy="65836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291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35661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but loosen under torsion — unsuitable for high-torque swing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46720" y="3328416"/>
            <a:ext cx="566928" cy="475488"/>
          </a:xfrm>
          <a:prstGeom prst="rect">
            <a:avLst/>
          </a:prstGeom>
          <a:solidFill>
            <a:srgbClr val="F0C040">
              <a:alpha val="20000"/>
            </a:srgbClr>
          </a:solidFill>
          <a:ln w="10160">
            <a:solidFill>
              <a:srgbClr val="F0C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332841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11480" y="3986784"/>
            <a:ext cx="8321040" cy="658368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986784"/>
            <a:ext cx="54864" cy="658368"/>
          </a:xfrm>
          <a:prstGeom prst="rect">
            <a:avLst/>
          </a:prstGeom>
          <a:solidFill>
            <a:srgbClr val="7B8FA6"/>
          </a:solidFill>
          <a:ln w="12700">
            <a:solidFill>
              <a:srgbClr val="7B8F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0416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Tapered Friction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431596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mechanism but protrudes beyond shaft OD — aesthetic failure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4078224"/>
            <a:ext cx="566928" cy="475488"/>
          </a:xfrm>
          <a:prstGeom prst="rect">
            <a:avLst/>
          </a:prstGeom>
          <a:solidFill>
            <a:srgbClr val="7B8FA6">
              <a:alpha val="20000"/>
            </a:srgbClr>
          </a:solidFill>
          <a:ln w="10160">
            <a:solidFill>
              <a:srgbClr val="7B8F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0" y="4078224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11480" y="4663440"/>
            <a:ext cx="8321040" cy="384048"/>
          </a:xfrm>
          <a:prstGeom prst="rect">
            <a:avLst/>
          </a:prstGeom>
          <a:solidFill>
            <a:srgbClr val="1A3D28"/>
          </a:solidFill>
          <a:ln w="1016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6817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No prior patent addresses a flush-profile, tool-free, play-grade collet-based connection mechanism for golf shafts. Design space is open.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SELECTION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Collet Compression Wins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 four alternative joint concepts across six engineering criteria.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8321040" cy="10973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91640"/>
            <a:ext cx="2011680" cy="347472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691640"/>
            <a:ext cx="1097280" cy="347472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6916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Telescopic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1691640"/>
            <a:ext cx="1097280" cy="347472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6916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691640"/>
            <a:ext cx="1097280" cy="347472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6916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Bayonet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15000" y="1691640"/>
            <a:ext cx="1097280" cy="347472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6916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1691640"/>
            <a:ext cx="1371600" cy="347472"/>
          </a:xfrm>
          <a:prstGeom prst="rect">
            <a:avLst/>
          </a:prstGeom>
          <a:solidFill>
            <a:srgbClr val="1A3D28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6916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Collet (Ours)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039112"/>
            <a:ext cx="2011680" cy="384048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0391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 OD Profile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23160" y="2039112"/>
            <a:ext cx="1097280" cy="384048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20391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20440" y="2039112"/>
            <a:ext cx="1097280" cy="384048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0391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17720" y="2039112"/>
            <a:ext cx="1097280" cy="384048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0391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715000" y="2039112"/>
            <a:ext cx="1097280" cy="384048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20391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12280" y="2039112"/>
            <a:ext cx="1371600" cy="384048"/>
          </a:xfrm>
          <a:prstGeom prst="rect">
            <a:avLst/>
          </a:prstGeom>
          <a:solidFill>
            <a:srgbClr val="1A3D28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20391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11480" y="2386584"/>
            <a:ext cx="2011680" cy="384048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3865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Bending Capacity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423160" y="2386584"/>
            <a:ext cx="1097280" cy="384048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23865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520440" y="2386584"/>
            <a:ext cx="1097280" cy="384048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0" y="23865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17720" y="2386584"/>
            <a:ext cx="1097280" cy="384048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23865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715000" y="2386584"/>
            <a:ext cx="1097280" cy="384048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0" y="23865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812280" y="2386584"/>
            <a:ext cx="1371600" cy="384048"/>
          </a:xfrm>
          <a:prstGeom prst="rect">
            <a:avLst/>
          </a:prstGeom>
          <a:solidFill>
            <a:srgbClr val="1A3D28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0" y="23865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11480" y="2734056"/>
            <a:ext cx="2011680" cy="384048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27340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Torsional Resistance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423160" y="2734056"/>
            <a:ext cx="1097280" cy="384048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68880" y="27340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520440" y="2734056"/>
            <a:ext cx="1097280" cy="384048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66160" y="27340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617720" y="2734056"/>
            <a:ext cx="1097280" cy="384048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27340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715000" y="2734056"/>
            <a:ext cx="1097280" cy="384048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60720" y="27340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812280" y="2734056"/>
            <a:ext cx="1371600" cy="384048"/>
          </a:xfrm>
          <a:prstGeom prst="rect">
            <a:avLst/>
          </a:prstGeom>
          <a:solidFill>
            <a:srgbClr val="1A3D28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0" y="27340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411480" y="3081528"/>
            <a:ext cx="2011680" cy="384048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30815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Tool-Free Assembly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423160" y="3081528"/>
            <a:ext cx="1097280" cy="384048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68880" y="30815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520440" y="3081528"/>
            <a:ext cx="1097280" cy="384048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66160" y="30815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4617720" y="3081528"/>
            <a:ext cx="1097280" cy="384048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63440" y="30815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5715000" y="3081528"/>
            <a:ext cx="1097280" cy="384048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760720" y="30815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812280" y="3081528"/>
            <a:ext cx="1371600" cy="384048"/>
          </a:xfrm>
          <a:prstGeom prst="rect">
            <a:avLst/>
          </a:prstGeom>
          <a:solidFill>
            <a:srgbClr val="1A3D28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58000" y="30815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411480" y="3429000"/>
            <a:ext cx="2011680" cy="384048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USGA Conforming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423160" y="3429000"/>
            <a:ext cx="1097280" cy="384048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468880" y="34290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3520440" y="3429000"/>
            <a:ext cx="1097280" cy="384048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566160" y="34290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4617720" y="3429000"/>
            <a:ext cx="1097280" cy="384048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63440" y="34290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5715000" y="3429000"/>
            <a:ext cx="1097280" cy="384048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760720" y="34290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6812280" y="3429000"/>
            <a:ext cx="1371600" cy="384048"/>
          </a:xfrm>
          <a:prstGeom prst="rect">
            <a:avLst/>
          </a:prstGeom>
          <a:solidFill>
            <a:srgbClr val="1A3D28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858000" y="34290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411480" y="3776472"/>
            <a:ext cx="2011680" cy="384048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37764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Compatible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2423160" y="3776472"/>
            <a:ext cx="1097280" cy="384048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468880" y="37764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3520440" y="3776472"/>
            <a:ext cx="1097280" cy="384048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566160" y="37764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4617720" y="3776472"/>
            <a:ext cx="1097280" cy="384048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663440" y="37764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5715000" y="3776472"/>
            <a:ext cx="1097280" cy="384048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760720" y="37764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6812280" y="3776472"/>
            <a:ext cx="1371600" cy="384048"/>
          </a:xfrm>
          <a:prstGeom prst="rect">
            <a:avLst/>
          </a:prstGeom>
          <a:solidFill>
            <a:srgbClr val="1A3D28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858000" y="37764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1" name="Text 89"/>
          <p:cNvSpPr/>
          <p:nvPr/>
        </p:nvSpPr>
        <p:spPr>
          <a:xfrm>
            <a:off x="411480" y="42976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   ~  Conditional   ✗ Fail  — Collet compression is the only mechanism meeting all six criteria simultaneously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411480" y="4681728"/>
            <a:ext cx="8321040" cy="347472"/>
          </a:xfrm>
          <a:prstGeom prst="rect">
            <a:avLst/>
          </a:prstGeom>
          <a:solidFill>
            <a:srgbClr val="1A3D28"/>
          </a:solidFill>
          <a:ln w="10160">
            <a:solidFill>
              <a:srgbClr val="4ADE8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48640" y="46817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DIFFERENTIATOR: All mechanism load transfer occurs inside the shaft bore — external OD is uninterrupted graphite tube at every point.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Breakdown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components — all housed within the shaft ID envelope. Nothing protrudes beyond the shaft OD.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8321040" cy="10973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91640"/>
            <a:ext cx="5120640" cy="512064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691640"/>
            <a:ext cx="54864" cy="512064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72821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Internal Sleeve (×2)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94767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Ti-6Al-4V · 13.3mm OD / 10.5mm ID · 90mm long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276856"/>
            <a:ext cx="5120640" cy="512064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276856"/>
            <a:ext cx="54864" cy="512064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31343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Split Collet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253288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17-4PH Stainless · 6 fingers · EDM-cut slots · TiN coated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862072"/>
            <a:ext cx="5120640" cy="512064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862072"/>
            <a:ext cx="54864" cy="5120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89864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Tapered Mandrel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3118104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Ti-6Al-4V · 8–10° half-angle · DLC coated · Ra 0.4μm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447288"/>
            <a:ext cx="5120640" cy="512064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447288"/>
            <a:ext cx="54864" cy="5120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48386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Detent Assembly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" y="3703320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Inconel 718 spring · Si₃N₄ ceramic ball · ~200N release force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4032504"/>
            <a:ext cx="5120640" cy="512064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032504"/>
            <a:ext cx="54864" cy="512064"/>
          </a:xfrm>
          <a:prstGeom prst="rect">
            <a:avLst/>
          </a:prstGeom>
          <a:solidFill>
            <a:srgbClr val="40C080"/>
          </a:solidFill>
          <a:ln w="12700">
            <a:solidFill>
              <a:srgbClr val="40C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06908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Dual Anti-Rotation Keys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428853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keyways · 180° apart · H7/h6 fit · ±0.5° alignment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15000" y="1691640"/>
            <a:ext cx="3017520" cy="3291840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15000" y="1691640"/>
            <a:ext cx="301752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06440" y="17556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DIMENSIONS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33288" y="2048256"/>
            <a:ext cx="2980944" cy="274320"/>
          </a:xfrm>
          <a:prstGeom prst="rect">
            <a:avLst/>
          </a:prstGeom>
          <a:solidFill>
            <a:srgbClr val="161C27"/>
          </a:solidFill>
          <a:ln w="12700">
            <a:solidFill>
              <a:srgbClr val="161C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2084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Shaft OD (mid-section)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635240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 mm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06440" y="23682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Shaft ID (mid-section)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635240" y="23682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 mm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733288" y="2615184"/>
            <a:ext cx="2980944" cy="274320"/>
          </a:xfrm>
          <a:prstGeom prst="rect">
            <a:avLst/>
          </a:prstGeom>
          <a:solidFill>
            <a:srgbClr val="161C27"/>
          </a:solidFill>
          <a:ln w="12700">
            <a:solidFill>
              <a:srgbClr val="161C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06440" y="2651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Sleeve OD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635240" y="2651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 mm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06440" y="29352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Sleeve ID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635240" y="29352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 mm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733288" y="3182112"/>
            <a:ext cx="2980944" cy="274320"/>
          </a:xfrm>
          <a:prstGeom prst="rect">
            <a:avLst/>
          </a:prstGeom>
          <a:solidFill>
            <a:srgbClr val="161C27"/>
          </a:solidFill>
          <a:ln w="12700">
            <a:solidFill>
              <a:srgbClr val="161C2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06440" y="3218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Collet engagement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635240" y="32186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mm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806440" y="3502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length (each)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635240" y="35021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mm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733288" y="3749040"/>
            <a:ext cx="2980944" cy="274320"/>
          </a:xfrm>
          <a:prstGeom prst="rect">
            <a:avLst/>
          </a:prstGeom>
          <a:solidFill>
            <a:srgbClr val="161C27"/>
          </a:solidFill>
          <a:ln w="12700">
            <a:solidFill>
              <a:srgbClr val="161C2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06440" y="37856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Mandrel taper angle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635240" y="37856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8–10°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806440" y="4069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Detent release force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635240" y="4069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733288" y="4315968"/>
            <a:ext cx="2980944" cy="274320"/>
          </a:xfrm>
          <a:prstGeom prst="rect">
            <a:avLst/>
          </a:prstGeom>
          <a:solidFill>
            <a:srgbClr val="161C27"/>
          </a:solidFill>
          <a:ln w="12700">
            <a:solidFill>
              <a:srgbClr val="161C2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06440" y="43525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joint weight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635240" y="43525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~6–9 g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806440" y="4636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spec (internal)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635240" y="46360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 × 1.0 fine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11480" y="4681728"/>
            <a:ext cx="8321040" cy="347472"/>
          </a:xfrm>
          <a:prstGeom prst="rect">
            <a:avLst/>
          </a:prstGeom>
          <a:solidFill>
            <a:srgbClr val="161C27"/>
          </a:solidFill>
          <a:ln w="10160">
            <a:solidFill>
              <a:srgbClr val="2E3D5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46817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cross-section diagram available in the supplementary technical report: bit.ly/golf-shaft-collet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SEQUENCE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States — Push to Lock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Tool-free assembly. Audible detent click confirms full engagement. Hard mechanical end-stop prevents incomplete assembly.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8321040" cy="10973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91640"/>
            <a:ext cx="2651760" cy="3108960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691640"/>
            <a:ext cx="2651760" cy="4572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21208" y="2221992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1208" y="253288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Halves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807208"/>
            <a:ext cx="8321040" cy="10973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898648"/>
            <a:ext cx="2450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and head halves are independent structural tubes. Collet sits in relaxed (open) state inside grip-half sleeve bore, held captive by retaining lip. Bore caps protect internal surfaces during transport.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" y="4389120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CAPACITY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21208" y="4562856"/>
            <a:ext cx="2432304" cy="128016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4709160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46120" y="1691640"/>
            <a:ext cx="2651760" cy="3108960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691640"/>
            <a:ext cx="2651760" cy="4572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355848" y="2221992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55848" y="253288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Collet Contacts Mandrel Taper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2807208"/>
            <a:ext cx="8321040" cy="10973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2898648"/>
            <a:ext cx="2450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push brings halves together. Collet fingers enter head-half sleeve and contact the 8–10° mandrel taper. Fingers begin radial compression — friction preload builds progressively. Golfer feels increasing resistance.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55848" y="4389120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CAPACITY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355848" y="4562856"/>
            <a:ext cx="2432304" cy="128016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5848" y="4562856"/>
            <a:ext cx="1094537" cy="128016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4709160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80760" y="1691640"/>
            <a:ext cx="2651760" cy="3108960"/>
          </a:xfrm>
          <a:prstGeom prst="rect">
            <a:avLst/>
          </a:prstGeom>
          <a:solidFill>
            <a:srgbClr val="1E2736"/>
          </a:solidFill>
          <a:ln w="1524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1691640"/>
            <a:ext cx="265176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0488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190488" y="2221992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190488" y="253288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Engagement — Ready to Play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" y="2807208"/>
            <a:ext cx="8321040" cy="10973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0488" y="2898648"/>
            <a:ext cx="2450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Collet fully seated on mandrel taper. Detent ball snaps into circumferential groove — audible click and tactile confirmation. Hard mechanical end-stop prevents over-travel. Load capacity: &gt;150 Nm bending, &gt;40 Nm torsion.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90488" y="4389120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CAPACITY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90488" y="4562856"/>
            <a:ext cx="2432304" cy="128016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90488" y="4562856"/>
            <a:ext cx="2383658" cy="12801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0488" y="4709160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~98%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063240" y="3063240"/>
            <a:ext cx="109728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99232" y="292608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833872" y="292608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SPECIFICATION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Selection Rationale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material decision is driven by fatigue life, galvanic compatibility with graphite, and weight budget.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8321040" cy="10973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91640"/>
            <a:ext cx="8321040" cy="420624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190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Sleeve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76272" y="1783080"/>
            <a:ext cx="10973" cy="237744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17190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Ti-6Al-4V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22192" y="1783080"/>
            <a:ext cx="10973" cy="237744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71907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Galvanic compatibility with graphite, 1100 MPa UTS, excellent fatigue life. 4× cost vs Al but eliminates galvanic corrosion failure mode (FM-09) entirely.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167128"/>
            <a:ext cx="8321040" cy="420624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Collet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76272" y="2258568"/>
            <a:ext cx="10973" cy="237744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17-4PH SS (H900)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22192" y="2258568"/>
            <a:ext cx="10973" cy="237744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21945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elastic compliance than Ti — fingers deflect adequately. 1310 MPa UTS, 620 MPa fatigue limit. EDM slot cutting + shot-peen essential.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642616"/>
            <a:ext cx="8321040" cy="420624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6700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Tapered Mandrel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76272" y="2734056"/>
            <a:ext cx="10973" cy="237744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26700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Ti-6Al-4V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22192" y="2734056"/>
            <a:ext cx="10973" cy="237744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267004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CTE to sleeve — no differential thermal expansion at joint. DLC coating (3000+ HV) eliminates galling against collet TiN (FM-03).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118104"/>
            <a:ext cx="8321040" cy="420624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14553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Detent Spring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176272" y="3209544"/>
            <a:ext cx="10973" cy="237744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0280" y="314553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Inconel 718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22192" y="3209544"/>
            <a:ext cx="10973" cy="237744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314553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set-resistance vs. steel at elevated temperature (car boot 70–80°C). Rated to 650°C continuous — overkill, but ensures zero spring set over product life.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3593592"/>
            <a:ext cx="8321040" cy="420624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6210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Detent Ball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176272" y="3685032"/>
            <a:ext cx="10973" cy="237744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40280" y="36210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Si₃N₄ Ceramic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22192" y="3685032"/>
            <a:ext cx="10973" cy="237744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0" y="362102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Hardness 1500+ HV. Does not gall against titanium groove. 40% lighter than steel equivalent, reducing spring load required for same retention force.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1480" y="4069080"/>
            <a:ext cx="8321040" cy="420624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0965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Adhesive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176272" y="4160520"/>
            <a:ext cx="10973" cy="237744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40280" y="40965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Hysol EA9394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822192" y="4160520"/>
            <a:ext cx="10973" cy="237744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31920" y="40965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MPa shear on composite-to-metal. Tg 121°C — covers worst-case summer storage. ~65,800 N theoretical shear capacity over 45mm bond length.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11480" y="4681728"/>
            <a:ext cx="8321040" cy="347472"/>
          </a:xfrm>
          <a:prstGeom prst="rect">
            <a:avLst/>
          </a:prstGeom>
          <a:solidFill>
            <a:srgbClr val="1A3D28"/>
          </a:solidFill>
          <a:ln w="10160">
            <a:solidFill>
              <a:srgbClr val="4ADE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6817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BUDGET: Total joint weight addition ~6–9g — less than a standard ferrule + grip cap. Swingweight compensation: trim 0.5" from grip-half butt end.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 &amp; EFFECTS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Profile — 10 Failure Modes Identified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= Severity × Occurrence × Detectability. Full interactive FMEA: bit.ly/golf-shaft-fmea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8321040" cy="10973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91640"/>
            <a:ext cx="1920240" cy="1097280"/>
          </a:xfrm>
          <a:prstGeom prst="rect">
            <a:avLst/>
          </a:prstGeom>
          <a:solidFill>
            <a:srgbClr val="1E2736"/>
          </a:solidFill>
          <a:ln w="15240">
            <a:solidFill>
              <a:srgbClr val="F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737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55117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≥ 200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1691640"/>
            <a:ext cx="1920240" cy="1097280"/>
          </a:xfrm>
          <a:prstGeom prst="rect">
            <a:avLst/>
          </a:prstGeom>
          <a:solidFill>
            <a:srgbClr val="1E2736"/>
          </a:solidFill>
          <a:ln w="15240">
            <a:solidFill>
              <a:srgbClr val="FF8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1737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514600" y="2331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14600" y="255117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120–199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1691640"/>
            <a:ext cx="1920240" cy="1097280"/>
          </a:xfrm>
          <a:prstGeom prst="rect">
            <a:avLst/>
          </a:prstGeom>
          <a:solidFill>
            <a:srgbClr val="1E2736"/>
          </a:solidFill>
          <a:ln w="15240">
            <a:solidFill>
              <a:srgbClr val="F0C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1737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617720" y="2331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255117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60–119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20840" y="1691640"/>
            <a:ext cx="1920240" cy="1097280"/>
          </a:xfrm>
          <a:prstGeom prst="rect">
            <a:avLst/>
          </a:prstGeom>
          <a:solidFill>
            <a:srgbClr val="1E2736"/>
          </a:solidFill>
          <a:ln w="15240">
            <a:solidFill>
              <a:srgbClr val="40C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20840" y="1737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720840" y="2331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20840" y="255117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&lt; 60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29260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FAILURE MODES BY RISK PRIORITY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3218688"/>
            <a:ext cx="8321040" cy="329184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26440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FM-01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97280" y="32644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Adhesive Bond Peel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03320" y="32644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sleeve debond — progressive, externally invisible until failure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72400" y="3255264"/>
            <a:ext cx="822960" cy="256032"/>
          </a:xfrm>
          <a:prstGeom prst="rect">
            <a:avLst/>
          </a:prstGeom>
          <a:solidFill>
            <a:srgbClr val="FF4444">
              <a:alpha val="20000"/>
            </a:srgbClr>
          </a:solidFill>
          <a:ln w="10160">
            <a:solidFill>
              <a:srgbClr val="F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32552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252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" y="3584448"/>
            <a:ext cx="8321040" cy="329184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63016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FM-02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7280" y="36301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Collet Finger Fatigue Fracture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03320" y="36301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High-cycle fatigue at slot root — sudden loss of preload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772400" y="3621024"/>
            <a:ext cx="822960" cy="256032"/>
          </a:xfrm>
          <a:prstGeom prst="rect">
            <a:avLst/>
          </a:prstGeom>
          <a:solidFill>
            <a:srgbClr val="FF4444">
              <a:alpha val="20000"/>
            </a:srgbClr>
          </a:solidFill>
          <a:ln w="10160">
            <a:solidFill>
              <a:srgbClr val="F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36210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216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11480" y="3950208"/>
            <a:ext cx="8321040" cy="329184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399592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FM-03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39959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Galling at Collet–Mandrel Interface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703320" y="39959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Ti-Ti cold welding — joint seizes permanently if uncoated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772400" y="3986784"/>
            <a:ext cx="822960" cy="256032"/>
          </a:xfrm>
          <a:prstGeom prst="rect">
            <a:avLst/>
          </a:prstGeom>
          <a:solidFill>
            <a:srgbClr val="FF8C00">
              <a:alpha val="20000"/>
            </a:srgbClr>
          </a:solidFill>
          <a:ln w="10160">
            <a:solidFill>
              <a:srgbClr val="FF8C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39867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168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11480" y="4315968"/>
            <a:ext cx="8321040" cy="329184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" y="43616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FM-04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97280" y="43616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Detent Spring Fatigue / Loss of Preload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703320" y="43616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set reduces retention — joint can disengage under vibration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772400" y="4352544"/>
            <a:ext cx="822960" cy="256032"/>
          </a:xfrm>
          <a:prstGeom prst="rect">
            <a:avLst/>
          </a:prstGeom>
          <a:solidFill>
            <a:srgbClr val="FF8C00">
              <a:alpha val="20000"/>
            </a:srgbClr>
          </a:solidFill>
          <a:ln w="10160">
            <a:solidFill>
              <a:srgbClr val="FF8C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0" y="43525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140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11480" y="4681728"/>
            <a:ext cx="8321040" cy="329184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" y="472744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FM-05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097280" y="47274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Torsional Microslip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703320" y="472744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Fretting at friction interface — addressed by anti-rotation keyway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772400" y="4718304"/>
            <a:ext cx="822960" cy="256032"/>
          </a:xfrm>
          <a:prstGeom prst="rect">
            <a:avLst/>
          </a:prstGeom>
          <a:solidFill>
            <a:srgbClr val="FF8C00">
              <a:alpha val="20000"/>
            </a:srgbClr>
          </a:solidFill>
          <a:ln w="10160">
            <a:solidFill>
              <a:srgbClr val="FF8C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0" y="47183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126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Design Actions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design decisions that collapse the FMEA risk profile from unacceptable to production-ready.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8321040" cy="10973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91640"/>
            <a:ext cx="3977640" cy="896112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691640"/>
            <a:ext cx="54864" cy="89611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764792"/>
            <a:ext cx="804672" cy="219456"/>
          </a:xfrm>
          <a:prstGeom prst="rect">
            <a:avLst/>
          </a:prstGeom>
          <a:solidFill>
            <a:srgbClr val="FF4444">
              <a:alpha val="20000"/>
            </a:srgbClr>
          </a:solidFill>
          <a:ln w="6350">
            <a:solidFill>
              <a:srgbClr val="F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76479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SAFETY CRITICAL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39496" y="175564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Tapered Sleeve Terminus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" y="2020824"/>
            <a:ext cx="3776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5–8mm chamfer on sleeve OD at both bond ends eliminates the stiffness step driving adhesive peel (FM-01) and bore ovality (FM-07). Zero cost penalty — one toolpath change.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691640"/>
            <a:ext cx="3977640" cy="896112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691640"/>
            <a:ext cx="54864" cy="89611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1764792"/>
            <a:ext cx="804672" cy="219456"/>
          </a:xfrm>
          <a:prstGeom prst="rect">
            <a:avLst/>
          </a:prstGeom>
          <a:solidFill>
            <a:srgbClr val="FF4444">
              <a:alpha val="20000"/>
            </a:srgbClr>
          </a:solidFill>
          <a:ln w="6350">
            <a:solidFill>
              <a:srgbClr val="F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176479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SAFETY CRITICAL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745736" y="175564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End-Stop + Loud Detent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45736" y="2020824"/>
            <a:ext cx="3776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Collet bottoms on machined shoulder — physically impossible to under-engage. Detent provides audible confirmation. Eliminates mid-swing separation risk (FM-08) entirely.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679192"/>
            <a:ext cx="3977640" cy="896112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679192"/>
            <a:ext cx="54864" cy="89611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2752344"/>
            <a:ext cx="804672" cy="219456"/>
          </a:xfrm>
          <a:prstGeom prst="rect">
            <a:avLst/>
          </a:prstGeom>
          <a:solidFill>
            <a:srgbClr val="FF8C00">
              <a:alpha val="20000"/>
            </a:srgbClr>
          </a:solidFill>
          <a:ln w="6350">
            <a:solidFill>
              <a:srgbClr val="FF8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75234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PERFORMANCE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39496" y="274320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Slots + Shot-Peen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" y="3008376"/>
            <a:ext cx="3776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cutting leaves compressive residual stress at slot roots. Shot-peen compounds benefit. Together: 3–5× fatigue life improvement over conventionally milled collet (FM-02).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679192"/>
            <a:ext cx="3977640" cy="896112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2679192"/>
            <a:ext cx="54864" cy="89611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0" y="2752344"/>
            <a:ext cx="804672" cy="219456"/>
          </a:xfrm>
          <a:prstGeom prst="rect">
            <a:avLst/>
          </a:prstGeom>
          <a:solidFill>
            <a:srgbClr val="FF8C00">
              <a:alpha val="20000"/>
            </a:srgbClr>
          </a:solidFill>
          <a:ln w="6350">
            <a:solidFill>
              <a:srgbClr val="FF8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275234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PERFORMANCE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745736" y="274320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 + DLC Coating Pair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45736" y="3008376"/>
            <a:ext cx="3776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 on collet (2300 HV) + DLC on mandrel (3000+ HV). Dissimilar hard coatings eliminate galling (FM-03) and dramatically reduce fretting wear (FM-05). Low-temperature deposition — no distortion.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" y="3666744"/>
            <a:ext cx="3977640" cy="896112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1480" y="3666744"/>
            <a:ext cx="54864" cy="89611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0" y="3739896"/>
            <a:ext cx="804672" cy="219456"/>
          </a:xfrm>
          <a:prstGeom prst="rect">
            <a:avLst/>
          </a:prstGeom>
          <a:solidFill>
            <a:srgbClr val="F0C040">
              <a:alpha val="20000"/>
            </a:srgbClr>
          </a:solidFill>
          <a:ln w="6350">
            <a:solidFill>
              <a:srgbClr val="F0C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373989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PERFORMANCE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39496" y="373075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 Bore Cap with Tether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9496" y="3995928"/>
            <a:ext cx="3776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Snap-on cap on each half bore. Internally tethered — cannot be lost. Eliminates contamination failure (FM-06). Premium branding surface — bears product mark. First thing golfer touches each round.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17720" y="3666744"/>
            <a:ext cx="3977640" cy="896112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17720" y="3666744"/>
            <a:ext cx="54864" cy="896112"/>
          </a:xfrm>
          <a:prstGeom prst="rect">
            <a:avLst/>
          </a:prstGeom>
          <a:solidFill>
            <a:srgbClr val="40C080"/>
          </a:solidFill>
          <a:ln w="12700">
            <a:solidFill>
              <a:srgbClr val="40C0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80960" y="3739896"/>
            <a:ext cx="804672" cy="219456"/>
          </a:xfrm>
          <a:prstGeom prst="rect">
            <a:avLst/>
          </a:prstGeom>
          <a:solidFill>
            <a:srgbClr val="40C080">
              <a:alpha val="20000"/>
            </a:srgbClr>
          </a:solidFill>
          <a:ln w="6350">
            <a:solidFill>
              <a:srgbClr val="40C0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0" y="373989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QUALITY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745736" y="373075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Keyway (180° Apart)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45736" y="3995928"/>
            <a:ext cx="3776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keyways halve rotational backlash vs. single keyway for same tolerance. Doubles torsional mechanical capacity. Ensures ±0.5° graphic alignment at assembly (FM-10). One additional EDM pass.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11480" y="4681728"/>
            <a:ext cx="8321040" cy="347472"/>
          </a:xfrm>
          <a:prstGeom prst="rect">
            <a:avLst/>
          </a:prstGeom>
          <a:solidFill>
            <a:srgbClr val="161C27"/>
          </a:solidFill>
          <a:ln w="10160">
            <a:solidFill>
              <a:srgbClr val="2E3D5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6817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failure timeline and test protocols available in the supplementary FMEA report: bit.ly/golf-shaft-fmea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PROTOCOL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to Pass Before Production Commitment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test programs — structured to gate OEM partnership milestones. All methods reference established ASTM/industry standards.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8321040" cy="10973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91640"/>
            <a:ext cx="8321040" cy="402336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73736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96112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Cycle Fatigue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82112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cycles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76672" y="1737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finger fracture · Detent force &gt;80N · Graphic align ±1°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845552" y="1755648"/>
            <a:ext cx="804672" cy="256032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45552" y="175564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FM-02, 04, 10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" y="2139696"/>
            <a:ext cx="8321040" cy="402336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18541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96112" y="21854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Bending Fatigue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82112" y="21854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 cycles @ 110 Nm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76672" y="21854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adhesive crack &gt;5mm · Bore ovality &lt;0.1mm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2203704"/>
            <a:ext cx="804672" cy="256032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45552" y="220370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FM-01, 07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" y="2587752"/>
            <a:ext cx="8321040" cy="402336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6334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96112" y="26334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Torsional Capacity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182112" y="2633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torque to failure (3 specimens)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76672" y="26334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torque &gt;40 Nm · No surface damage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845552" y="2651760"/>
            <a:ext cx="804672" cy="256032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45552" y="265176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FM-05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11480" y="3035808"/>
            <a:ext cx="8321040" cy="402336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08152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96112" y="30815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Cycling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182112" y="30815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-20°C to +80°C · 100 cycles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76672" y="30815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strength retained &gt;80% · Detent force within spec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845552" y="3099816"/>
            <a:ext cx="804672" cy="256032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45552" y="309981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FM-01, 04, 09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1480" y="3483864"/>
            <a:ext cx="8321040" cy="402336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352958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96112" y="35295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Ingestion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182112" y="35295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ASTM G65 grit · 100 assemblies sans cap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76672" y="35295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&lt;0.8μm post-test · Torsional capacity &gt;90%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845552" y="3547872"/>
            <a:ext cx="804672" cy="256032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45552" y="354787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FM-06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11480" y="3931920"/>
            <a:ext cx="8321040" cy="402336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" y="39776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96112" y="3977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Galvanic / Salt Fog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182112" y="3977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ASTM B117 · 500 hours assembled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76672" y="3977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corrosion · Bond strength &gt;85%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845552" y="3995928"/>
            <a:ext cx="804672" cy="256032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45552" y="399592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FM-09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11480" y="4379976"/>
            <a:ext cx="8321040" cy="402336"/>
          </a:xfrm>
          <a:prstGeom prst="rect">
            <a:avLst/>
          </a:prstGeom>
          <a:solidFill>
            <a:srgbClr val="1E2736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" y="44256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96112" y="442569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/ Impact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182112" y="442569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 onto concrete grip-end · 10 drops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376672" y="44256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C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joint separation · Detent engagement maintained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845552" y="4443984"/>
            <a:ext cx="804672" cy="256032"/>
          </a:xfrm>
          <a:prstGeom prst="rect">
            <a:avLst/>
          </a:prstGeom>
          <a:solidFill>
            <a:srgbClr val="161C27"/>
          </a:solidFill>
          <a:ln w="6350">
            <a:solidFill>
              <a:srgbClr val="2E3D5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45552" y="444398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FM-01, 08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75488" y="15727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96112" y="1572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Program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182112" y="157276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/ Target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376672" y="157276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Criterion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845552" y="157276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Ref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PROPOSAL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IP Strategy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IP boundary between shaft manufacture and connection mechanism — your manufacturing expertise, our joint design.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8321040" cy="10973"/>
          </a:xfrm>
          <a:prstGeom prst="rect">
            <a:avLst/>
          </a:prstGeom>
          <a:solidFill>
            <a:srgbClr val="2E3D5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91640"/>
            <a:ext cx="3840480" cy="2560320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691640"/>
            <a:ext cx="384048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55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BOUNDARY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084832"/>
            <a:ext cx="804672" cy="219456"/>
          </a:xfrm>
          <a:prstGeom prst="rect">
            <a:avLst/>
          </a:prstGeom>
          <a:solidFill>
            <a:srgbClr val="7B8FA6">
              <a:alpha val="20000"/>
            </a:srgbClr>
          </a:solidFill>
          <a:ln w="6350">
            <a:solidFill>
              <a:srgbClr val="7B8F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848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PARTNER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30352" y="234086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Shaft layup schedule &amp; flex profile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50545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Kick point location (determines cut position)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267004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Material sourcing &amp; tube manufacture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283464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Quality control &amp; tolerances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299923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Brand, finish, graphics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182112"/>
            <a:ext cx="804672" cy="219456"/>
          </a:xfrm>
          <a:prstGeom prst="rect">
            <a:avLst/>
          </a:prstGeom>
          <a:solidFill>
            <a:srgbClr val="4ADE80">
              <a:alpha val="20000"/>
            </a:srgbClr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8211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LICENSOR (US)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30352" y="343814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Collet geometry &amp; finger count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360273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Mandrel taper specification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" y="376732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Dual anti-rotation keyway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" y="39319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Detent mechanism design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" y="409651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Sleeve tapered terminus geometry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34840" y="1691640"/>
            <a:ext cx="4297680" cy="2560320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34840" y="1691640"/>
            <a:ext cx="429768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17556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MILESTONES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98848" y="2084832"/>
            <a:ext cx="640080" cy="201168"/>
          </a:xfrm>
          <a:prstGeom prst="rect">
            <a:avLst/>
          </a:prstGeom>
          <a:solidFill>
            <a:srgbClr val="D4A830">
              <a:alpha val="20000"/>
            </a:srgbClr>
          </a:solidFill>
          <a:ln w="6350">
            <a:solidFill>
              <a:srgbClr val="D4A8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98848" y="20848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93792" y="208483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&amp; Proof of Concept  ·  Months 1–3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26280" y="2313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first collet/mandrel/sleeve set · Static load test to failure · Surface coating trials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98848" y="2651760"/>
            <a:ext cx="640080" cy="201168"/>
          </a:xfrm>
          <a:prstGeom prst="rect">
            <a:avLst/>
          </a:prstGeom>
          <a:solidFill>
            <a:srgbClr val="D4A830">
              <a:alpha val="20000"/>
            </a:srgbClr>
          </a:solidFill>
          <a:ln w="6350">
            <a:solidFill>
              <a:srgbClr val="D4A8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98848" y="26517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93792" y="26517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Integration  ·  Months 4–6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26280" y="28803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shaft selection · Sleeve installation process definition · Cut location per kick point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98848" y="3218688"/>
            <a:ext cx="640080" cy="201168"/>
          </a:xfrm>
          <a:prstGeom prst="rect">
            <a:avLst/>
          </a:prstGeom>
          <a:solidFill>
            <a:srgbClr val="D4A830">
              <a:alpha val="20000"/>
            </a:srgbClr>
          </a:solidFill>
          <a:ln w="6350">
            <a:solidFill>
              <a:srgbClr val="D4A8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98848" y="32186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93792" y="32186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Testing  ·  Months 7–10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26280" y="34472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full 7-program test protocol · USGA conformance submission · Iterate on any failures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498848" y="3785616"/>
            <a:ext cx="640080" cy="201168"/>
          </a:xfrm>
          <a:prstGeom prst="rect">
            <a:avLst/>
          </a:prstGeom>
          <a:solidFill>
            <a:srgbClr val="D4A830">
              <a:alpha val="20000"/>
            </a:srgbClr>
          </a:solidFill>
          <a:ln w="6350">
            <a:solidFill>
              <a:srgbClr val="D4A8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98848" y="378561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193792" y="378561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Launch  ·  Month 12+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26280" y="401421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filing finalized · Manufacturing scale · Launch in premium travel golf market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11480" y="4343400"/>
            <a:ext cx="8321040" cy="658368"/>
          </a:xfrm>
          <a:prstGeom prst="rect">
            <a:avLst/>
          </a:prstGeom>
          <a:solidFill>
            <a:srgbClr val="161C27"/>
          </a:solidFill>
          <a:ln w="10160">
            <a:solidFill>
              <a:srgbClr val="2E3D5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3891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TECHNICAL REPORTS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" y="4617720"/>
            <a:ext cx="3822192" cy="292608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46360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Landscape — 13 patents, links, mechanism analysis</a:t>
            </a:r>
            <a:endParaRPr lang="en-US" sz="950" dirty="0"/>
          </a:p>
        </p:txBody>
      </p:sp>
      <p:sp>
        <p:nvSpPr>
          <p:cNvPr id="47" name="Text 45">
            <a:hlinkClick r:id="rId1" tooltip=""/>
          </p:cNvPr>
          <p:cNvSpPr/>
          <p:nvPr/>
        </p:nvSpPr>
        <p:spPr>
          <a:xfrm>
            <a:off x="3310128" y="4636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u="sng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Open Report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416552" y="4617720"/>
            <a:ext cx="4224528" cy="292608"/>
          </a:xfrm>
          <a:prstGeom prst="rect">
            <a:avLst/>
          </a:prstGeom>
          <a:solidFill>
            <a:srgbClr val="1E2736"/>
          </a:solidFill>
          <a:ln w="10160">
            <a:solidFill>
              <a:srgbClr val="2E3D5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07992" y="46360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FMEA Report — 10 failure modes, RPN scores, test protocol</a:t>
            </a:r>
            <a:endParaRPr lang="en-US" sz="950" dirty="0"/>
          </a:p>
        </p:txBody>
      </p:sp>
      <p:sp>
        <p:nvSpPr>
          <p:cNvPr id="50" name="Text 48">
            <a:hlinkClick r:id="rId2" tooltip=""/>
          </p:cNvPr>
          <p:cNvSpPr/>
          <p:nvPr/>
        </p:nvSpPr>
        <p:spPr>
          <a:xfrm>
            <a:off x="7388352" y="4636008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u="sng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Open Report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Foldable Golf Shaft — OEM Partnership Proposal</dc:title>
  <dc:subject>PptxGenJS Presentation</dc:subject>
  <dc:creator>Mechanical Engineer</dc:creator>
  <cp:lastModifiedBy>Mechanical Engineer</cp:lastModifiedBy>
  <cp:revision>1</cp:revision>
  <dcterms:created xsi:type="dcterms:W3CDTF">2026-02-24T02:26:22Z</dcterms:created>
  <dcterms:modified xsi:type="dcterms:W3CDTF">2026-02-24T02:26:22Z</dcterms:modified>
</cp:coreProperties>
</file>